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Deva Prasad Salomon" userId="c8e03b9c6eea0d99" providerId="LiveId" clId="{1EE6D8B5-5D47-49AA-8DE1-2405099E818B}"/>
    <pc:docChg chg="modSld">
      <pc:chgData name="Alex Deva Prasad Salomon" userId="c8e03b9c6eea0d99" providerId="LiveId" clId="{1EE6D8B5-5D47-49AA-8DE1-2405099E818B}" dt="2026-09-02T16:49:12.580" v="103" actId="20577"/>
      <pc:docMkLst>
        <pc:docMk/>
      </pc:docMkLst>
      <pc:sldChg chg="modSp mod">
        <pc:chgData name="Alex Deva Prasad Salomon" userId="c8e03b9c6eea0d99" providerId="LiveId" clId="{1EE6D8B5-5D47-49AA-8DE1-2405099E818B}" dt="2026-09-02T16:49:12.580" v="103" actId="20577"/>
        <pc:sldMkLst>
          <pc:docMk/>
          <pc:sldMk cId="0" sldId="256"/>
        </pc:sldMkLst>
        <pc:spChg chg="mod">
          <ac:chgData name="Alex Deva Prasad Salomon" userId="c8e03b9c6eea0d99" providerId="LiveId" clId="{1EE6D8B5-5D47-49AA-8DE1-2405099E818B}" dt="2026-09-02T16:49:12.580" v="103" actId="20577"/>
          <ac:spMkLst>
            <pc:docMk/>
            <pc:sldMk cId="0" sldId="256"/>
            <ac:spMk id="28" creationId="{00000000-0000-0000-0000-000000000000}"/>
          </ac:spMkLst>
        </pc:spChg>
        <pc:spChg chg="mod">
          <ac:chgData name="Alex Deva Prasad Salomon" userId="c8e03b9c6eea0d99" providerId="LiveId" clId="{1EE6D8B5-5D47-49AA-8DE1-2405099E818B}" dt="2026-09-02T16:47:33.431" v="55" actId="103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Alex Deva Prasad Salomon" userId="c8e03b9c6eea0d99" providerId="LiveId" clId="{1EE6D8B5-5D47-49AA-8DE1-2405099E818B}" dt="2026-09-02T16:47:33.431" v="55" actId="1036"/>
          <ac:spMkLst>
            <pc:docMk/>
            <pc:sldMk cId="0" sldId="256"/>
            <ac:spMk id="34" creationId="{00000000-0000-0000-0000-000000000000}"/>
          </ac:spMkLst>
        </pc:spChg>
        <pc:spChg chg="mod">
          <ac:chgData name="Alex Deva Prasad Salomon" userId="c8e03b9c6eea0d99" providerId="LiveId" clId="{1EE6D8B5-5D47-49AA-8DE1-2405099E818B}" dt="2026-09-02T16:47:33.431" v="55" actId="1036"/>
          <ac:spMkLst>
            <pc:docMk/>
            <pc:sldMk cId="0" sldId="256"/>
            <ac:spMk id="35" creationId="{00000000-0000-0000-0000-000000000000}"/>
          </ac:spMkLst>
        </pc:spChg>
        <pc:cxnChg chg="mod">
          <ac:chgData name="Alex Deva Prasad Salomon" userId="c8e03b9c6eea0d99" providerId="LiveId" clId="{1EE6D8B5-5D47-49AA-8DE1-2405099E818B}" dt="2026-09-02T16:48:30.806" v="77" actId="14100"/>
          <ac:cxnSpMkLst>
            <pc:docMk/>
            <pc:sldMk cId="0" sldId="256"/>
            <ac:cxnSpMk id="36" creationId="{00000000-0000-0000-0000-000000000000}"/>
          </ac:cxnSpMkLst>
        </pc:cxnChg>
        <pc:cxnChg chg="mod">
          <ac:chgData name="Alex Deva Prasad Salomon" userId="c8e03b9c6eea0d99" providerId="LiveId" clId="{1EE6D8B5-5D47-49AA-8DE1-2405099E818B}" dt="2026-09-02T16:48:38.867" v="79" actId="14100"/>
          <ac:cxnSpMkLst>
            <pc:docMk/>
            <pc:sldMk cId="0" sldId="256"/>
            <ac:cxnSpMk id="55" creationId="{00000000-0000-0000-0000-000000000000}"/>
          </ac:cxnSpMkLst>
        </pc:cxnChg>
        <pc:cxnChg chg="mod">
          <ac:chgData name="Alex Deva Prasad Salomon" userId="c8e03b9c6eea0d99" providerId="LiveId" clId="{1EE6D8B5-5D47-49AA-8DE1-2405099E818B}" dt="2026-09-02T16:48:11.799" v="61" actId="14100"/>
          <ac:cxnSpMkLst>
            <pc:docMk/>
            <pc:sldMk cId="0" sldId="256"/>
            <ac:cxnSpMk id="56" creationId="{00000000-0000-0000-0000-000000000000}"/>
          </ac:cxnSpMkLst>
        </pc:cxnChg>
        <pc:cxnChg chg="mod">
          <ac:chgData name="Alex Deva Prasad Salomon" userId="c8e03b9c6eea0d99" providerId="LiveId" clId="{1EE6D8B5-5D47-49AA-8DE1-2405099E818B}" dt="2026-09-02T16:48:07.352" v="60" actId="14100"/>
          <ac:cxnSpMkLst>
            <pc:docMk/>
            <pc:sldMk cId="0" sldId="256"/>
            <ac:cxnSpMk id="57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7498079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30CFBE"/>
                </a:solidFill>
                <a:latin typeface="Aptos"/>
              </a:rPr>
              <a:t>CardioLens | DEMO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6692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500" b="1">
                <a:solidFill>
                  <a:srgbClr val="F8FBFD"/>
                </a:solidFill>
                <a:latin typeface="Aptos"/>
              </a:rPr>
              <a:t>Capture the profile. Trace the risk. Act with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51560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100" b="0">
                <a:solidFill>
                  <a:srgbClr val="A6B8C7"/>
                </a:solidFill>
                <a:latin typeface="Aptos"/>
              </a:rPr>
              <a:t>A live Streamlit decision-support workflow for research and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75488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7C14C"/>
                </a:solidFill>
                <a:latin typeface="Aptos"/>
              </a:rPr>
              <a:t>THE CASCADE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937760" cy="292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700" b="1">
                <a:solidFill>
                  <a:srgbClr val="F8FBFD"/>
                </a:solidFill>
                <a:latin typeface="Aptos"/>
              </a:rPr>
              <a:t>Three connected model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" y="2697479"/>
            <a:ext cx="3401568" cy="822960"/>
          </a:xfrm>
          <a:prstGeom prst="roundRect">
            <a:avLst>
              <a:gd name="adj" fmla="val 12000"/>
            </a:avLst>
          </a:prstGeom>
          <a:solidFill>
            <a:srgbClr val="050D18"/>
          </a:solidFill>
          <a:ln>
            <a:solidFill>
              <a:srgbClr val="050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8096" y="2633472"/>
            <a:ext cx="3401568" cy="822960"/>
          </a:xfrm>
          <a:prstGeom prst="roundRect">
            <a:avLst>
              <a:gd name="adj" fmla="val 12000"/>
            </a:avLst>
          </a:prstGeom>
          <a:solidFill>
            <a:srgbClr val="FF6760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2578608"/>
            <a:ext cx="3401568" cy="822960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2578608"/>
            <a:ext cx="100584" cy="822960"/>
          </a:xfrm>
          <a:prstGeom prst="roundRect">
            <a:avLst>
              <a:gd name="adj" fmla="val 12000"/>
            </a:avLst>
          </a:prstGeom>
          <a:solidFill>
            <a:srgbClr val="FF6760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697479"/>
            <a:ext cx="3054096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100" b="1">
                <a:solidFill>
                  <a:srgbClr val="FF6760"/>
                </a:solidFill>
                <a:latin typeface="Aptos"/>
              </a:rPr>
              <a:t>01  METABOLIC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990088"/>
            <a:ext cx="3054096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F8FBFD"/>
                </a:solidFill>
                <a:latin typeface="Aptos"/>
              </a:rPr>
              <a:t>XGBoost • obesity probability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1016" y="3712464"/>
            <a:ext cx="3401568" cy="822960"/>
          </a:xfrm>
          <a:prstGeom prst="roundRect">
            <a:avLst>
              <a:gd name="adj" fmla="val 12000"/>
            </a:avLst>
          </a:prstGeom>
          <a:solidFill>
            <a:srgbClr val="050D18"/>
          </a:solidFill>
          <a:ln>
            <a:solidFill>
              <a:srgbClr val="050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207008" y="3648456"/>
            <a:ext cx="3401568" cy="822960"/>
          </a:xfrm>
          <a:prstGeom prst="roundRect">
            <a:avLst>
              <a:gd name="adj" fmla="val 12000"/>
            </a:avLst>
          </a:prstGeom>
          <a:solidFill>
            <a:srgbClr val="30CFBE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52144" y="3593592"/>
            <a:ext cx="3401568" cy="822960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52144" y="3593592"/>
            <a:ext cx="100584" cy="822960"/>
          </a:xfrm>
          <a:prstGeom prst="roundRect">
            <a:avLst>
              <a:gd name="adj" fmla="val 12000"/>
            </a:avLst>
          </a:prstGeom>
          <a:solidFill>
            <a:srgbClr val="30CFBE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80744" y="3712464"/>
            <a:ext cx="3054096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100" b="1">
                <a:solidFill>
                  <a:srgbClr val="30CFBE"/>
                </a:solidFill>
                <a:latin typeface="Aptos"/>
              </a:rPr>
              <a:t>02  CARDIOVASCULAR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" y="4005072"/>
            <a:ext cx="3054096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F8FBFD"/>
                </a:solidFill>
                <a:latin typeface="Aptos"/>
              </a:rPr>
              <a:t>LightGBM • 10-year CVD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09928" y="4727448"/>
            <a:ext cx="3401568" cy="822960"/>
          </a:xfrm>
          <a:prstGeom prst="roundRect">
            <a:avLst>
              <a:gd name="adj" fmla="val 12000"/>
            </a:avLst>
          </a:prstGeom>
          <a:solidFill>
            <a:srgbClr val="050D18"/>
          </a:solidFill>
          <a:ln>
            <a:solidFill>
              <a:srgbClr val="050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645920" y="4663440"/>
            <a:ext cx="3401568" cy="822960"/>
          </a:xfrm>
          <a:prstGeom prst="roundRect">
            <a:avLst>
              <a:gd name="adj" fmla="val 12000"/>
            </a:avLst>
          </a:prstGeom>
          <a:solidFill>
            <a:srgbClr val="F7C14C"/>
          </a:solidFill>
          <a:ln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591056" y="4608576"/>
            <a:ext cx="3401568" cy="822960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591056" y="4608576"/>
            <a:ext cx="100584" cy="822960"/>
          </a:xfrm>
          <a:prstGeom prst="roundRect">
            <a:avLst>
              <a:gd name="adj" fmla="val 12000"/>
            </a:avLst>
          </a:prstGeom>
          <a:solidFill>
            <a:srgbClr val="F7C14C"/>
          </a:solidFill>
          <a:ln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19656" y="4727448"/>
            <a:ext cx="3054096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100" b="1">
                <a:solidFill>
                  <a:srgbClr val="F7C14C"/>
                </a:solidFill>
                <a:latin typeface="Aptos"/>
              </a:rPr>
              <a:t>03  EXPLAINABILITY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9656" y="5020056"/>
            <a:ext cx="3054096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F8FBFD"/>
                </a:solidFill>
                <a:latin typeface="Aptos"/>
              </a:rPr>
              <a:t>Feature drivers • action plan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14016" y="3401568"/>
            <a:ext cx="0" cy="173736"/>
          </a:xfrm>
          <a:prstGeom prst="line">
            <a:avLst/>
          </a:prstGeom>
          <a:ln w="1905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852928" y="4416552"/>
            <a:ext cx="0" cy="173736"/>
          </a:xfrm>
          <a:prstGeom prst="line">
            <a:avLst/>
          </a:prstGeom>
          <a:ln w="1905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715000" y="1810512"/>
            <a:ext cx="5833872" cy="4535424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3328" y="2044017"/>
            <a:ext cx="5212080" cy="246221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lang="en-IN" sz="1000" b="1" dirty="0">
                <a:solidFill>
                  <a:srgbClr val="F7C14C"/>
                </a:solidFill>
                <a:latin typeface="Aptos"/>
              </a:rPr>
              <a:t>PERSONAL</a:t>
            </a:r>
            <a:r>
              <a:rPr sz="1000" b="1" dirty="0">
                <a:solidFill>
                  <a:srgbClr val="F7C14C"/>
                </a:solidFill>
                <a:latin typeface="Aptos"/>
              </a:rPr>
              <a:t> PROFILE  →  EXPLAINABLE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2313432"/>
            <a:ext cx="502920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700" b="1">
                <a:solidFill>
                  <a:srgbClr val="F8FBFD"/>
                </a:solidFill>
                <a:latin typeface="Aptos"/>
              </a:rPr>
              <a:t>A live run in four moves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2834640"/>
            <a:ext cx="1353312" cy="1005840"/>
          </a:xfrm>
          <a:prstGeom prst="roundRect">
            <a:avLst>
              <a:gd name="adj" fmla="val 12000"/>
            </a:avLst>
          </a:prstGeom>
          <a:solidFill>
            <a:srgbClr val="21394F"/>
          </a:solidFill>
          <a:ln>
            <a:solidFill>
              <a:srgbClr val="5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9632" y="2944368"/>
            <a:ext cx="1115568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5997FF"/>
                </a:solidFill>
                <a:latin typeface="Aptos"/>
              </a:rPr>
              <a:t>01  CAPTURE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3264408"/>
            <a:ext cx="1115568" cy="411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000" b="1">
                <a:solidFill>
                  <a:srgbClr val="F8FBFD"/>
                </a:solidFill>
                <a:latin typeface="Aptos"/>
              </a:rPr>
              <a:t>Age • BP
BMI • Lifestyle</a:t>
            </a:r>
          </a:p>
        </p:txBody>
      </p:sp>
      <p:sp>
        <p:nvSpPr>
          <p:cNvPr id="33" name="Oval 32"/>
          <p:cNvSpPr/>
          <p:nvPr/>
        </p:nvSpPr>
        <p:spPr>
          <a:xfrm>
            <a:off x="7690103" y="4151376"/>
            <a:ext cx="786384" cy="786384"/>
          </a:xfrm>
          <a:prstGeom prst="ellipse">
            <a:avLst/>
          </a:prstGeom>
          <a:solidFill>
            <a:srgbClr val="0A1626"/>
          </a:solidFill>
          <a:ln w="31750"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918703" y="4379976"/>
            <a:ext cx="329184" cy="329184"/>
          </a:xfrm>
          <a:prstGeom prst="ellipse">
            <a:avLst/>
          </a:prstGeom>
          <a:solidFill>
            <a:srgbClr val="FF6760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43216" y="5010912"/>
            <a:ext cx="1298448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FF6760"/>
                </a:solidFill>
                <a:latin typeface="Aptos"/>
              </a:rPr>
              <a:t>02  VALIDATE</a:t>
            </a:r>
          </a:p>
        </p:txBody>
      </p:sp>
      <p:cxnSp>
        <p:nvCxnSpPr>
          <p:cNvPr id="36" name="Connector 35"/>
          <p:cNvCxnSpPr>
            <a:cxnSpLocks/>
            <a:stCxn id="30" idx="3"/>
            <a:endCxn id="34" idx="0"/>
          </p:cNvCxnSpPr>
          <p:nvPr/>
        </p:nvCxnSpPr>
        <p:spPr>
          <a:xfrm>
            <a:off x="7434072" y="3337560"/>
            <a:ext cx="649223" cy="1042416"/>
          </a:xfrm>
          <a:prstGeom prst="line">
            <a:avLst/>
          </a:prstGeom>
          <a:ln w="27940">
            <a:solidFill>
              <a:srgbClr val="599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732520" y="2770632"/>
            <a:ext cx="2450592" cy="749808"/>
          </a:xfrm>
          <a:prstGeom prst="roundRect">
            <a:avLst>
              <a:gd name="adj" fmla="val 12000"/>
            </a:avLst>
          </a:prstGeom>
          <a:solidFill>
            <a:srgbClr val="1B3146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732520" y="2770632"/>
            <a:ext cx="73152" cy="749808"/>
          </a:xfrm>
          <a:prstGeom prst="roundRect">
            <a:avLst>
              <a:gd name="adj" fmla="val 12000"/>
            </a:avLst>
          </a:prstGeom>
          <a:solidFill>
            <a:srgbClr val="30CFBE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33688" y="2862072"/>
            <a:ext cx="1389888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03  PREDICT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063239"/>
            <a:ext cx="160020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F8FBFD"/>
                </a:solidFill>
                <a:latin typeface="Aptos"/>
              </a:rPr>
              <a:t>27.4% CVD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79608" y="3026663"/>
            <a:ext cx="457200" cy="256032"/>
          </a:xfrm>
          <a:prstGeom prst="roundRect">
            <a:avLst>
              <a:gd name="adj" fmla="val 12000"/>
            </a:avLst>
          </a:prstGeom>
          <a:solidFill>
            <a:srgbClr val="30CFBE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79608" y="3031235"/>
            <a:ext cx="457200" cy="23774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3703320"/>
            <a:ext cx="2450592" cy="749808"/>
          </a:xfrm>
          <a:prstGeom prst="roundRect">
            <a:avLst>
              <a:gd name="adj" fmla="val 12000"/>
            </a:avLst>
          </a:prstGeom>
          <a:solidFill>
            <a:srgbClr val="1B3146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732520" y="3703320"/>
            <a:ext cx="73152" cy="749808"/>
          </a:xfrm>
          <a:prstGeom prst="roundRect">
            <a:avLst>
              <a:gd name="adj" fmla="val 12000"/>
            </a:avLst>
          </a:prstGeom>
          <a:solidFill>
            <a:srgbClr val="FF6760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33688" y="3794759"/>
            <a:ext cx="1389888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04  EXPLAIN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33688" y="3995928"/>
            <a:ext cx="160020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F8FBFD"/>
                </a:solidFill>
                <a:latin typeface="Aptos"/>
              </a:rPr>
              <a:t>Systolic BP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79608" y="3959352"/>
            <a:ext cx="457200" cy="256032"/>
          </a:xfrm>
          <a:prstGeom prst="roundRect">
            <a:avLst>
              <a:gd name="adj" fmla="val 12000"/>
            </a:avLst>
          </a:prstGeom>
          <a:solidFill>
            <a:srgbClr val="FF6760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79608" y="3963924"/>
            <a:ext cx="457200" cy="23774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DRIVER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20" y="4636008"/>
            <a:ext cx="2450592" cy="749808"/>
          </a:xfrm>
          <a:prstGeom prst="roundRect">
            <a:avLst>
              <a:gd name="adj" fmla="val 12000"/>
            </a:avLst>
          </a:prstGeom>
          <a:solidFill>
            <a:srgbClr val="1B3146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732520" y="4636008"/>
            <a:ext cx="73152" cy="749808"/>
          </a:xfrm>
          <a:prstGeom prst="roundRect">
            <a:avLst>
              <a:gd name="adj" fmla="val 12000"/>
            </a:avLst>
          </a:prstGeom>
          <a:solidFill>
            <a:srgbClr val="F7C14C"/>
          </a:solidFill>
          <a:ln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33688" y="4727448"/>
            <a:ext cx="1389888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ACTION PLAN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33688" y="4928616"/>
            <a:ext cx="160020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300" b="1">
                <a:solidFill>
                  <a:srgbClr val="F8FBFD"/>
                </a:solidFill>
                <a:latin typeface="Aptos"/>
              </a:rPr>
              <a:t>Personalised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79608" y="4892040"/>
            <a:ext cx="457200" cy="256032"/>
          </a:xfrm>
          <a:prstGeom prst="roundRect">
            <a:avLst>
              <a:gd name="adj" fmla="val 12000"/>
            </a:avLst>
          </a:prstGeom>
          <a:solidFill>
            <a:srgbClr val="F7C14C"/>
          </a:solidFill>
          <a:ln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79608" y="4896612"/>
            <a:ext cx="457200" cy="23774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ACT</a:t>
            </a:r>
          </a:p>
        </p:txBody>
      </p:sp>
      <p:cxnSp>
        <p:nvCxnSpPr>
          <p:cNvPr id="55" name="Connector 54"/>
          <p:cNvCxnSpPr>
            <a:cxnSpLocks/>
            <a:stCxn id="30" idx="3"/>
            <a:endCxn id="38" idx="3"/>
          </p:cNvCxnSpPr>
          <p:nvPr/>
        </p:nvCxnSpPr>
        <p:spPr>
          <a:xfrm flipV="1">
            <a:off x="7434072" y="3145536"/>
            <a:ext cx="1371600" cy="192024"/>
          </a:xfrm>
          <a:prstGeom prst="line">
            <a:avLst/>
          </a:prstGeom>
          <a:ln w="1651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>
            <a:cxnSpLocks/>
            <a:stCxn id="34" idx="6"/>
            <a:endCxn id="43" idx="1"/>
          </p:cNvCxnSpPr>
          <p:nvPr/>
        </p:nvCxnSpPr>
        <p:spPr>
          <a:xfrm flipV="1">
            <a:off x="8247887" y="4078224"/>
            <a:ext cx="484633" cy="466344"/>
          </a:xfrm>
          <a:prstGeom prst="line">
            <a:avLst/>
          </a:prstGeom>
          <a:ln w="1651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cxnSpLocks/>
            <a:stCxn id="34" idx="6"/>
            <a:endCxn id="50" idx="1"/>
          </p:cNvCxnSpPr>
          <p:nvPr/>
        </p:nvCxnSpPr>
        <p:spPr>
          <a:xfrm>
            <a:off x="8247887" y="4544568"/>
            <a:ext cx="484633" cy="466344"/>
          </a:xfrm>
          <a:prstGeom prst="line">
            <a:avLst/>
          </a:prstGeom>
          <a:ln w="1651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080760" y="5413248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1E3447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36208" y="5513832"/>
            <a:ext cx="2148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000" b="1">
                <a:solidFill>
                  <a:srgbClr val="F8FBFD"/>
                </a:solidFill>
                <a:latin typeface="Aptos"/>
              </a:rPr>
              <a:t>Transparent by design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96528" y="5650992"/>
            <a:ext cx="224028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000" b="0">
                <a:solidFill>
                  <a:srgbClr val="A6B8C7"/>
                </a:solidFill>
                <a:latin typeface="Aptos"/>
              </a:rPr>
              <a:t>Inputs → models → evidence → action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1016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40080" y="6537960"/>
            <a:ext cx="804672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A6B8C7"/>
                </a:solidFill>
                <a:latin typeface="Aptos"/>
              </a:rPr>
              <a:t>Live demo: Streamlit dashboard • cached models • no patient data stored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35440" y="6537960"/>
            <a:ext cx="228600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800" b="1">
                <a:solidFill>
                  <a:srgbClr val="F7C14C"/>
                </a:solidFill>
                <a:latin typeface="Aptos"/>
              </a:rPr>
              <a:t>Research / education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863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7C14C"/>
                </a:solidFill>
                <a:latin typeface="Aptos"/>
              </a:rPr>
              <a:t>02  |  WHAT IS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2062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300" b="1">
                <a:solidFill>
                  <a:srgbClr val="F8FBFD"/>
                </a:solidFill>
                <a:latin typeface="Aptos"/>
              </a:rPr>
              <a:t>From captured vitals to an actionable care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607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A6B8C7"/>
                </a:solidFill>
                <a:latin typeface="Aptos"/>
              </a:rPr>
              <a:t>The app keeps the decision path visible: inputs, engineered features, model outputs, and recommendations.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1016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37960"/>
            <a:ext cx="804672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A6B8C7"/>
                </a:solidFill>
                <a:latin typeface="Aptos"/>
              </a:rPr>
              <a:t>CARDIOLENS  |  Streamlit demo  |  research / education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2344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800" b="1">
                <a:solidFill>
                  <a:srgbClr val="F7C14C"/>
                </a:solidFill>
                <a:latin typeface="Aptos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627632"/>
            <a:ext cx="310896" cy="310896"/>
          </a:xfrm>
          <a:prstGeom prst="ellipse">
            <a:avLst/>
          </a:prstGeom>
          <a:solidFill>
            <a:srgbClr val="5997FF"/>
          </a:solidFill>
          <a:ln w="15240">
            <a:solidFill>
              <a:srgbClr val="5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636776"/>
            <a:ext cx="310896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18488"/>
            <a:ext cx="100584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5997FF"/>
                </a:solidFill>
                <a:latin typeface="Aptos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618488"/>
            <a:ext cx="315468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F8FBFD"/>
                </a:solidFill>
                <a:latin typeface="Aptos"/>
              </a:rPr>
              <a:t>Age, BP, height, weight, cholesterol, glucose, smoking, alcohol, activity.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5256" y="1947672"/>
            <a:ext cx="0" cy="448056"/>
          </a:xfrm>
          <a:prstGeom prst="line">
            <a:avLst/>
          </a:prstGeom>
          <a:ln w="1524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49808" y="2423160"/>
            <a:ext cx="310896" cy="310896"/>
          </a:xfrm>
          <a:prstGeom prst="ellipse">
            <a:avLst/>
          </a:prstGeom>
          <a:solidFill>
            <a:srgbClr val="FF6760"/>
          </a:solidFill>
          <a:ln w="15240"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432303"/>
            <a:ext cx="310896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14016"/>
            <a:ext cx="100584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F6760"/>
                </a:solidFill>
                <a:latin typeface="Aptos"/>
              </a:rP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414016"/>
            <a:ext cx="315468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F8FBFD"/>
                </a:solidFill>
                <a:latin typeface="Aptos"/>
              </a:rPr>
              <a:t>BMI, pulse pressure, MAP, and combined metabolic flags are calculated.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5256" y="2743200"/>
            <a:ext cx="0" cy="448056"/>
          </a:xfrm>
          <a:prstGeom prst="line">
            <a:avLst/>
          </a:prstGeom>
          <a:ln w="1524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49808" y="3218688"/>
            <a:ext cx="310896" cy="310896"/>
          </a:xfrm>
          <a:prstGeom prst="ellipse">
            <a:avLst/>
          </a:prstGeom>
          <a:solidFill>
            <a:srgbClr val="30CFBE"/>
          </a:solidFill>
          <a:ln w="15240"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227832"/>
            <a:ext cx="310896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09544"/>
            <a:ext cx="100584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30CFBE"/>
                </a:solidFill>
                <a:latin typeface="Aptos"/>
              </a:rPr>
              <a:t>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209544"/>
            <a:ext cx="315468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F8FBFD"/>
                </a:solidFill>
                <a:latin typeface="Aptos"/>
              </a:rPr>
              <a:t>XGBoost estimates overweight / obesity probability; LightGBM estimates CVD risk.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5256" y="3538728"/>
            <a:ext cx="0" cy="448056"/>
          </a:xfrm>
          <a:prstGeom prst="line">
            <a:avLst/>
          </a:prstGeom>
          <a:ln w="1524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49808" y="4014215"/>
            <a:ext cx="310896" cy="310896"/>
          </a:xfrm>
          <a:prstGeom prst="ellipse">
            <a:avLst/>
          </a:prstGeom>
          <a:solidFill>
            <a:srgbClr val="9D7DFF"/>
          </a:solidFill>
          <a:ln w="15240"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4023359"/>
            <a:ext cx="310896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005072"/>
            <a:ext cx="100584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9D7DFF"/>
                </a:solidFill>
                <a:latin typeface="Aptos"/>
              </a:rPr>
              <a:t>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005072"/>
            <a:ext cx="315468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F8FBFD"/>
                </a:solidFill>
                <a:latin typeface="Aptos"/>
              </a:rPr>
              <a:t>Feature contribution bars identify the strongest model drivers.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5256" y="4334255"/>
            <a:ext cx="0" cy="448057"/>
          </a:xfrm>
          <a:prstGeom prst="line">
            <a:avLst/>
          </a:prstGeom>
          <a:ln w="1524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49808" y="4809744"/>
            <a:ext cx="310896" cy="310896"/>
          </a:xfrm>
          <a:prstGeom prst="ellipse">
            <a:avLst/>
          </a:prstGeom>
          <a:solidFill>
            <a:srgbClr val="F7C14C"/>
          </a:solidFill>
          <a:ln w="15240"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4818888"/>
            <a:ext cx="310896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00600"/>
            <a:ext cx="100584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7C14C"/>
                </a:solidFill>
                <a:latin typeface="Aptos"/>
              </a:rPr>
              <a:t>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800600"/>
            <a:ext cx="315468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F8FBFD"/>
                </a:solidFill>
                <a:latin typeface="Aptos"/>
              </a:rPr>
              <a:t>Risk-tiered wellness guidance becomes a personalized next-step plan.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1627632"/>
            <a:ext cx="5349240" cy="4343400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0" y="1874519"/>
            <a:ext cx="46634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30CFBE"/>
                </a:solidFill>
                <a:latin typeface="Aptos"/>
              </a:rPr>
              <a:t>THE DEMO PROMISE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176272"/>
            <a:ext cx="448056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F8FBFD"/>
                </a:solidFill>
                <a:latin typeface="Aptos"/>
              </a:rPr>
              <a:t>Every score has a visible reason
and a practical next step.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2971800"/>
            <a:ext cx="59436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100" b="1">
                <a:solidFill>
                  <a:srgbClr val="FF6760"/>
                </a:solidFill>
                <a:latin typeface="Apto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980944"/>
            <a:ext cx="19202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1">
                <a:solidFill>
                  <a:srgbClr val="F8FBFD"/>
                </a:solidFill>
                <a:latin typeface="Aptos"/>
              </a:rPr>
              <a:t>MODEL ARTIFACTS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209544"/>
            <a:ext cx="333756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cached and loaded at runtime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3776472"/>
            <a:ext cx="59436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100" b="1">
                <a:solidFill>
                  <a:srgbClr val="30CFBE"/>
                </a:solidFill>
                <a:latin typeface="Aptos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3785615"/>
            <a:ext cx="19202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1">
                <a:solidFill>
                  <a:srgbClr val="F8FBFD"/>
                </a:solidFill>
                <a:latin typeface="Aptos"/>
              </a:rPr>
              <a:t>STAGE 2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014215"/>
            <a:ext cx="333756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clinical + engineered signals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4581144"/>
            <a:ext cx="594360" cy="31089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100" b="1">
                <a:solidFill>
                  <a:srgbClr val="F7C14C"/>
                </a:solidFill>
                <a:latin typeface="Aptos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4590288"/>
            <a:ext cx="19202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1">
                <a:solidFill>
                  <a:srgbClr val="F8FBFD"/>
                </a:solidFill>
                <a:latin typeface="Aptos"/>
              </a:rPr>
              <a:t>ACTION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818888"/>
            <a:ext cx="333756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tailored to the risk tier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863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7C14C"/>
                </a:solidFill>
                <a:latin typeface="Aptos"/>
              </a:rPr>
              <a:t>03  |  EYE-CATCHING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2062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300" b="1">
                <a:solidFill>
                  <a:srgbClr val="F8FBFD"/>
                </a:solidFill>
                <a:latin typeface="Aptos"/>
              </a:rPr>
              <a:t>The interactive capture-to-forecast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607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A6B8C7"/>
                </a:solidFill>
                <a:latin typeface="Aptos"/>
              </a:rPr>
              <a:t>A presenter can demonstrate the full loop quickly with the live sidebar controls and instant recalculation.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1016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37960"/>
            <a:ext cx="804672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A6B8C7"/>
                </a:solidFill>
                <a:latin typeface="Aptos"/>
              </a:rPr>
              <a:t>CARDIOLENS  |  Streamlit demo  |  research / education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2344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800" b="1">
                <a:solidFill>
                  <a:srgbClr val="F7C14C"/>
                </a:solidFill>
                <a:latin typeface="Aptos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993392"/>
            <a:ext cx="713232" cy="713232"/>
          </a:xfrm>
          <a:prstGeom prst="ellipse">
            <a:avLst/>
          </a:prstGeom>
          <a:solidFill>
            <a:srgbClr val="1B3146"/>
          </a:solidFill>
          <a:ln w="27940">
            <a:solidFill>
              <a:srgbClr val="5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713232" cy="292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1">
                <a:solidFill>
                  <a:srgbClr val="5997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52928"/>
            <a:ext cx="1170432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000" b="1">
                <a:solidFill>
                  <a:srgbClr val="5997FF"/>
                </a:solidFill>
                <a:latin typeface="Aptos"/>
              </a:rPr>
              <a:t>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" y="3163824"/>
            <a:ext cx="1536192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0">
                <a:solidFill>
                  <a:srgbClr val="F8FBFD"/>
                </a:solidFill>
                <a:latin typeface="Aptos"/>
              </a:rPr>
              <a:t>Set age, BP, BMI
and lifestyle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36776" y="2350008"/>
            <a:ext cx="1316735" cy="0"/>
          </a:xfrm>
          <a:prstGeom prst="line">
            <a:avLst/>
          </a:prstGeom>
          <a:ln w="1778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063240" y="1993392"/>
            <a:ext cx="713232" cy="713232"/>
          </a:xfrm>
          <a:prstGeom prst="ellipse">
            <a:avLst/>
          </a:prstGeom>
          <a:solidFill>
            <a:srgbClr val="1B3146"/>
          </a:solidFill>
          <a:ln w="27940"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2167128"/>
            <a:ext cx="713232" cy="292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1">
                <a:solidFill>
                  <a:srgbClr val="FF676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852928"/>
            <a:ext cx="1170432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000" b="1">
                <a:solidFill>
                  <a:srgbClr val="FF6760"/>
                </a:solidFill>
                <a:latin typeface="Aptos"/>
              </a:rPr>
              <a:t>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163824"/>
            <a:ext cx="1536192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0">
                <a:solidFill>
                  <a:srgbClr val="F8FBFD"/>
                </a:solidFill>
                <a:latin typeface="Aptos"/>
              </a:rPr>
              <a:t>Calculate BMI, MAP
and pulse pressure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31336" y="2350008"/>
            <a:ext cx="1316736" cy="0"/>
          </a:xfrm>
          <a:prstGeom prst="line">
            <a:avLst/>
          </a:prstGeom>
          <a:ln w="1778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257800" y="1993392"/>
            <a:ext cx="713232" cy="713232"/>
          </a:xfrm>
          <a:prstGeom prst="ellipse">
            <a:avLst/>
          </a:prstGeom>
          <a:solidFill>
            <a:srgbClr val="1B3146"/>
          </a:solidFill>
          <a:ln w="27940"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57800" y="2167128"/>
            <a:ext cx="713232" cy="292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1">
                <a:solidFill>
                  <a:srgbClr val="30CFB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852928"/>
            <a:ext cx="1170432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000" b="1">
                <a:solidFill>
                  <a:srgbClr val="30CFBE"/>
                </a:solidFill>
                <a:latin typeface="Aptos"/>
              </a:rPr>
              <a:t>CASCADE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163824"/>
            <a:ext cx="1536192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0">
                <a:solidFill>
                  <a:srgbClr val="F8FBFD"/>
                </a:solidFill>
                <a:latin typeface="Aptos"/>
              </a:rPr>
              <a:t>Pass metabolic risk
into CVD 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25896" y="2350008"/>
            <a:ext cx="1316735" cy="0"/>
          </a:xfrm>
          <a:prstGeom prst="line">
            <a:avLst/>
          </a:prstGeom>
          <a:ln w="1778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452360" y="1993392"/>
            <a:ext cx="713232" cy="713232"/>
          </a:xfrm>
          <a:prstGeom prst="ellipse">
            <a:avLst/>
          </a:prstGeom>
          <a:solidFill>
            <a:srgbClr val="1B3146"/>
          </a:solidFill>
          <a:ln w="27940"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52360" y="2167128"/>
            <a:ext cx="713232" cy="292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1">
                <a:solidFill>
                  <a:srgbClr val="9D7D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852928"/>
            <a:ext cx="1170432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000" b="1">
                <a:solidFill>
                  <a:srgbClr val="9D7DFF"/>
                </a:solidFill>
                <a:latin typeface="Aptos"/>
              </a:rPr>
              <a:t>INSPECT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163824"/>
            <a:ext cx="1536192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0">
                <a:solidFill>
                  <a:srgbClr val="F8FBFD"/>
                </a:solidFill>
                <a:latin typeface="Aptos"/>
              </a:rPr>
              <a:t>Read risk drivers
and feature weights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20456" y="2350008"/>
            <a:ext cx="1316736" cy="0"/>
          </a:xfrm>
          <a:prstGeom prst="line">
            <a:avLst/>
          </a:prstGeom>
          <a:ln w="1778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646920" y="1993392"/>
            <a:ext cx="713232" cy="713232"/>
          </a:xfrm>
          <a:prstGeom prst="ellipse">
            <a:avLst/>
          </a:prstGeom>
          <a:solidFill>
            <a:srgbClr val="1B3146"/>
          </a:solidFill>
          <a:ln w="27940"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46920" y="2167128"/>
            <a:ext cx="713232" cy="292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300" b="1">
                <a:solidFill>
                  <a:srgbClr val="F7C14C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852928"/>
            <a:ext cx="1170432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000" b="1">
                <a:solidFill>
                  <a:srgbClr val="F7C14C"/>
                </a:solidFill>
                <a:latin typeface="Aptos"/>
              </a:rPr>
              <a:t>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163824"/>
            <a:ext cx="1536192" cy="43891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0">
                <a:solidFill>
                  <a:srgbClr val="F8FBFD"/>
                </a:solidFill>
                <a:latin typeface="Aptos"/>
              </a:rPr>
              <a:t>Open the tiered
wellness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" y="4160520"/>
            <a:ext cx="10652760" cy="1298448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4407408"/>
            <a:ext cx="192024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1">
                <a:solidFill>
                  <a:srgbClr val="F7C14C"/>
                </a:solidFill>
                <a:latin typeface="Aptos"/>
              </a:rPr>
              <a:t>PRESENTER CUE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690872"/>
            <a:ext cx="9784080" cy="4114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500" b="1">
                <a:solidFill>
                  <a:srgbClr val="F8FBFD"/>
                </a:solidFill>
                <a:latin typeface="Aptos"/>
              </a:rPr>
              <a:t>Start with a high-pressure profile, show the risk tier, open the feature contribution chart, then change one lifestyle signal and recalculate.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157216"/>
            <a:ext cx="978408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The audience sees the same patient profile move from input to evidence to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863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7C14C"/>
                </a:solidFill>
                <a:latin typeface="Aptos"/>
              </a:rPr>
              <a:t>04  |  3D VISUAL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2062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300" b="1">
                <a:solidFill>
                  <a:srgbClr val="F8FBFD"/>
                </a:solidFill>
                <a:latin typeface="Aptos"/>
              </a:rPr>
              <a:t>A clinical signal map for the three-layer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607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A6B8C7"/>
                </a:solidFill>
                <a:latin typeface="Aptos"/>
              </a:rPr>
              <a:t>The 3D stack is a visual metaphor for how raw biometrics become a forecast and then an interpretable plan.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1016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37960"/>
            <a:ext cx="804672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A6B8C7"/>
                </a:solidFill>
                <a:latin typeface="Aptos"/>
              </a:rPr>
              <a:t>CARDIOLENS  |  Streamlit demo  |  research / education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2344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800" b="1">
                <a:solidFill>
                  <a:srgbClr val="F7C14C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1993392"/>
            <a:ext cx="4709160" cy="841248"/>
          </a:xfrm>
          <a:prstGeom prst="roundRect">
            <a:avLst>
              <a:gd name="adj" fmla="val 12000"/>
            </a:avLst>
          </a:prstGeom>
          <a:solidFill>
            <a:srgbClr val="050D18"/>
          </a:solidFill>
          <a:ln>
            <a:solidFill>
              <a:srgbClr val="050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" y="1901952"/>
            <a:ext cx="4709160" cy="841248"/>
          </a:xfrm>
          <a:prstGeom prst="roundRect">
            <a:avLst>
              <a:gd name="adj" fmla="val 12000"/>
            </a:avLst>
          </a:prstGeom>
          <a:solidFill>
            <a:srgbClr val="FF6760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4709160" cy="841248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956816"/>
            <a:ext cx="9144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FF6760"/>
                </a:solidFill>
                <a:latin typeface="Aptos"/>
              </a:rPr>
              <a:t>LAYER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929384"/>
            <a:ext cx="1828800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200" b="1">
                <a:solidFill>
                  <a:srgbClr val="F8FBFD"/>
                </a:solidFill>
                <a:latin typeface="Aptos"/>
              </a:rPr>
              <a:t>BIOMETRICS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49424"/>
            <a:ext cx="292608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patient inputs captured in the sidebar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3163824"/>
            <a:ext cx="4709160" cy="841248"/>
          </a:xfrm>
          <a:prstGeom prst="roundRect">
            <a:avLst>
              <a:gd name="adj" fmla="val 12000"/>
            </a:avLst>
          </a:prstGeom>
          <a:solidFill>
            <a:srgbClr val="050D18"/>
          </a:solidFill>
          <a:ln>
            <a:solidFill>
              <a:srgbClr val="050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554480" y="3072384"/>
            <a:ext cx="4709160" cy="841248"/>
          </a:xfrm>
          <a:prstGeom prst="roundRect">
            <a:avLst>
              <a:gd name="adj" fmla="val 12000"/>
            </a:avLst>
          </a:prstGeom>
          <a:solidFill>
            <a:srgbClr val="30CFBE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481328" y="2999232"/>
            <a:ext cx="4709160" cy="841248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55648" y="3127248"/>
            <a:ext cx="9144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30CFBE"/>
                </a:solidFill>
                <a:latin typeface="Aptos"/>
              </a:rPr>
              <a:t>LAYER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3099815"/>
            <a:ext cx="1828800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200" b="1">
                <a:solidFill>
                  <a:srgbClr val="F8FBFD"/>
                </a:solidFill>
                <a:latin typeface="Aptos"/>
              </a:rPr>
              <a:t>FEATURE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3419856"/>
            <a:ext cx="292608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BMI, MAP, pulse pressure, metabolic flags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12848" y="4334255"/>
            <a:ext cx="4709160" cy="841248"/>
          </a:xfrm>
          <a:prstGeom prst="roundRect">
            <a:avLst>
              <a:gd name="adj" fmla="val 12000"/>
            </a:avLst>
          </a:prstGeom>
          <a:solidFill>
            <a:srgbClr val="050D18"/>
          </a:solidFill>
          <a:ln>
            <a:solidFill>
              <a:srgbClr val="050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121408" y="4242816"/>
            <a:ext cx="4709160" cy="841248"/>
          </a:xfrm>
          <a:prstGeom prst="roundRect">
            <a:avLst>
              <a:gd name="adj" fmla="val 12000"/>
            </a:avLst>
          </a:prstGeom>
          <a:solidFill>
            <a:srgbClr val="F7C14C"/>
          </a:solidFill>
          <a:ln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48256" y="4169663"/>
            <a:ext cx="4709160" cy="841248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22576" y="4297679"/>
            <a:ext cx="91440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F7C14C"/>
                </a:solidFill>
                <a:latin typeface="Aptos"/>
              </a:rPr>
              <a:t>LAYER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2696" y="4270248"/>
            <a:ext cx="1828800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200" b="1">
                <a:solidFill>
                  <a:srgbClr val="F8FBFD"/>
                </a:solidFill>
                <a:latin typeface="Aptos"/>
              </a:rPr>
              <a:t>FORECAST SURFACE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2696" y="4590288"/>
            <a:ext cx="292608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CVD probability, drivers, and action plan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73552" y="2743200"/>
            <a:ext cx="0" cy="210312"/>
          </a:xfrm>
          <a:prstGeom prst="line">
            <a:avLst/>
          </a:prstGeom>
          <a:ln w="1905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40480" y="3913632"/>
            <a:ext cx="0" cy="210312"/>
          </a:xfrm>
          <a:prstGeom prst="line">
            <a:avLst/>
          </a:prstGeom>
          <a:ln w="19050">
            <a:solidFill>
              <a:srgbClr val="A6B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98079" y="1901952"/>
            <a:ext cx="3566160" cy="3337560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45552" y="2157984"/>
            <a:ext cx="283464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9D7DFF"/>
                </a:solidFill>
                <a:latin typeface="Aptos"/>
              </a:rPr>
              <a:t>THE MODEL LENS</a:t>
            </a:r>
          </a:p>
        </p:txBody>
      </p:sp>
      <p:sp>
        <p:nvSpPr>
          <p:cNvPr id="30" name="Oval 29"/>
          <p:cNvSpPr/>
          <p:nvPr/>
        </p:nvSpPr>
        <p:spPr>
          <a:xfrm>
            <a:off x="8641080" y="2697480"/>
            <a:ext cx="1572768" cy="1572768"/>
          </a:xfrm>
          <a:prstGeom prst="ellipse">
            <a:avLst/>
          </a:prstGeom>
          <a:solidFill>
            <a:srgbClr val="0A1626"/>
          </a:solidFill>
          <a:ln w="34290"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42832" y="2999232"/>
            <a:ext cx="969264" cy="969264"/>
          </a:xfrm>
          <a:prstGeom prst="ellipse">
            <a:avLst/>
          </a:prstGeom>
          <a:solidFill>
            <a:srgbClr val="0A1626"/>
          </a:solidFill>
          <a:ln w="25400"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72016" y="3328416"/>
            <a:ext cx="310896" cy="310896"/>
          </a:xfrm>
          <a:prstGeom prst="ellipse">
            <a:avLst/>
          </a:prstGeom>
          <a:solidFill>
            <a:srgbClr val="FF6760"/>
          </a:solidFill>
          <a:ln w="12700"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82127" y="4526280"/>
            <a:ext cx="278892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500" b="1">
                <a:solidFill>
                  <a:srgbClr val="F8FBFD"/>
                </a:solidFill>
                <a:latin typeface="Aptos"/>
              </a:rPr>
              <a:t>Risk is inspectable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4846320"/>
            <a:ext cx="278892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0">
                <a:solidFill>
                  <a:srgbClr val="A6B8C7"/>
                </a:solidFill>
                <a:latin typeface="Aptos"/>
              </a:rPr>
              <a:t>Feature drivers turn a probability into a conversation.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863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7C14C"/>
                </a:solidFill>
                <a:latin typeface="Aptos"/>
              </a:rPr>
              <a:t>05  |  VERIFIED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2062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300" b="1">
                <a:solidFill>
                  <a:srgbClr val="F8FBFD"/>
                </a:solidFill>
                <a:latin typeface="Aptos"/>
              </a:rPr>
              <a:t>One app, two contrasting patient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607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A6B8C7"/>
                </a:solidFill>
                <a:latin typeface="Aptos"/>
              </a:rPr>
              <a:t>Use these illustrative profiles to show how the same interface responds to different cardiometabolic signals.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1016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37960"/>
            <a:ext cx="804672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A6B8C7"/>
                </a:solidFill>
                <a:latin typeface="Aptos"/>
              </a:rPr>
              <a:t>CARDIOLENS  |  Streamlit demo  |  research / education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2344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800" b="1">
                <a:solidFill>
                  <a:srgbClr val="F7C14C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5074920" cy="4160520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956816"/>
            <a:ext cx="438912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30CFBE"/>
                </a:solidFill>
                <a:latin typeface="Aptos"/>
              </a:rPr>
              <a:t>OPTIMAL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67712"/>
            <a:ext cx="438912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45-year-old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724912"/>
            <a:ext cx="43434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INPUT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063240"/>
            <a:ext cx="4343400" cy="274320"/>
          </a:xfrm>
          <a:prstGeom prst="roundRect">
            <a:avLst>
              <a:gd name="adj" fmla="val 12000"/>
            </a:avLst>
          </a:prstGeom>
          <a:solidFill>
            <a:srgbClr val="1B3146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3081528"/>
            <a:ext cx="3931920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8FBFD"/>
                </a:solidFill>
                <a:latin typeface="Aptos"/>
              </a:rPr>
              <a:t>BMI 22.4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7288"/>
            <a:ext cx="4343400" cy="274320"/>
          </a:xfrm>
          <a:prstGeom prst="roundRect">
            <a:avLst>
              <a:gd name="adj" fmla="val 12000"/>
            </a:avLst>
          </a:prstGeom>
          <a:solidFill>
            <a:srgbClr val="1B3146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3465576"/>
            <a:ext cx="3931920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8FBFD"/>
                </a:solidFill>
                <a:latin typeface="Aptos"/>
              </a:rPr>
              <a:t>BP 115 / 75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831336"/>
            <a:ext cx="4343400" cy="274320"/>
          </a:xfrm>
          <a:prstGeom prst="roundRect">
            <a:avLst>
              <a:gd name="adj" fmla="val 12000"/>
            </a:avLst>
          </a:prstGeom>
          <a:solidFill>
            <a:srgbClr val="1B3146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3849624"/>
            <a:ext cx="3931920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8FBFD"/>
                </a:solidFill>
                <a:latin typeface="Aptos"/>
              </a:rPr>
              <a:t>Active  |  non-smoker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70832"/>
            <a:ext cx="196596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STAGE 2 CVD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17720"/>
            <a:ext cx="18288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200" b="1">
                <a:solidFill>
                  <a:srgbClr val="30CFBE"/>
                </a:solidFill>
                <a:latin typeface="Aptos"/>
              </a:rPr>
              <a:t>27.4%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4645152"/>
            <a:ext cx="1078992" cy="256032"/>
          </a:xfrm>
          <a:prstGeom prst="roundRect">
            <a:avLst>
              <a:gd name="adj" fmla="val 12000"/>
            </a:avLst>
          </a:prstGeom>
          <a:solidFill>
            <a:srgbClr val="30CFBE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96512" y="4649724"/>
            <a:ext cx="1078992" cy="23774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LOWER SIGNAL 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230368"/>
            <a:ext cx="42519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Then inspect drivers and open the action plan.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1691640"/>
            <a:ext cx="5074920" cy="4160520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1956816"/>
            <a:ext cx="438912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F6760"/>
                </a:solidFill>
                <a:latin typeface="Aptos"/>
              </a:rPr>
              <a:t>ELEVATED 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2267712"/>
            <a:ext cx="438912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58-year-old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2724912"/>
            <a:ext cx="434340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INPUT SIGNALS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6248" y="3063240"/>
            <a:ext cx="4343400" cy="274320"/>
          </a:xfrm>
          <a:prstGeom prst="roundRect">
            <a:avLst>
              <a:gd name="adj" fmla="val 12000"/>
            </a:avLst>
          </a:prstGeom>
          <a:solidFill>
            <a:srgbClr val="1B3146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39128" y="3081528"/>
            <a:ext cx="3931920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8FBFD"/>
                </a:solidFill>
                <a:latin typeface="Aptos"/>
              </a:rPr>
              <a:t>BMI 33.0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6248" y="3447288"/>
            <a:ext cx="4343400" cy="274320"/>
          </a:xfrm>
          <a:prstGeom prst="roundRect">
            <a:avLst>
              <a:gd name="adj" fmla="val 12000"/>
            </a:avLst>
          </a:prstGeom>
          <a:solidFill>
            <a:srgbClr val="1B3146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39128" y="3465576"/>
            <a:ext cx="3931920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8FBFD"/>
                </a:solidFill>
                <a:latin typeface="Aptos"/>
              </a:rPr>
              <a:t>BP 150 / 95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6248" y="3831336"/>
            <a:ext cx="4343400" cy="274320"/>
          </a:xfrm>
          <a:prstGeom prst="roundRect">
            <a:avLst>
              <a:gd name="adj" fmla="val 12000"/>
            </a:avLst>
          </a:prstGeom>
          <a:solidFill>
            <a:srgbClr val="1B3146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39128" y="3849624"/>
            <a:ext cx="3931920" cy="219456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8FBFD"/>
                </a:solidFill>
                <a:latin typeface="Aptos"/>
              </a:rPr>
              <a:t>Smoker  |  sedentary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4370832"/>
            <a:ext cx="196596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STAGE 2 CVD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6248" y="4617720"/>
            <a:ext cx="1828800" cy="38404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200" b="1">
                <a:solidFill>
                  <a:srgbClr val="FF6760"/>
                </a:solidFill>
                <a:latin typeface="Aptos"/>
              </a:rPr>
              <a:t>HIGHER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4645152"/>
            <a:ext cx="1078992" cy="256032"/>
          </a:xfrm>
          <a:prstGeom prst="roundRect">
            <a:avLst>
              <a:gd name="adj" fmla="val 12000"/>
            </a:avLst>
          </a:prstGeom>
          <a:solidFill>
            <a:srgbClr val="FF6760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09760" y="4649724"/>
            <a:ext cx="1078992" cy="23774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900" b="1">
                <a:solidFill>
                  <a:srgbClr val="0A1626"/>
                </a:solidFill>
                <a:latin typeface="Aptos"/>
              </a:rPr>
              <a:t>HIGHER SIGNAL 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5230368"/>
            <a:ext cx="425196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Then inspect drivers and open the action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863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7C14C"/>
                </a:solidFill>
                <a:latin typeface="Aptos"/>
              </a:rPr>
              <a:t>06  |  EXPLAINABILITY +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2062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300" b="1">
                <a:solidFill>
                  <a:srgbClr val="F8FBFD"/>
                </a:solidFill>
                <a:latin typeface="Aptos"/>
              </a:rPr>
              <a:t>The result is not just a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607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A6B8C7"/>
                </a:solidFill>
                <a:latin typeface="Aptos"/>
              </a:rPr>
              <a:t>CardioLens translates the forecast into visible drivers, a risk tier, and a tailored wellness response.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1016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37960"/>
            <a:ext cx="804672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A6B8C7"/>
                </a:solidFill>
                <a:latin typeface="Aptos"/>
              </a:rPr>
              <a:t>CARDIOLENS  |  Streamlit demo  |  research / education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2344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800" b="1">
                <a:solidFill>
                  <a:srgbClr val="F7C14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2057400" cy="1298448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783080"/>
            <a:ext cx="73152" cy="1298448"/>
          </a:xfrm>
          <a:prstGeom prst="roundRect">
            <a:avLst>
              <a:gd name="adj" fmla="val 12000"/>
            </a:avLst>
          </a:prstGeom>
          <a:solidFill>
            <a:srgbClr val="30CFBE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1965960"/>
            <a:ext cx="150876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40280"/>
            <a:ext cx="16002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30CFBE"/>
                </a:solidFill>
                <a:latin typeface="Aptos"/>
              </a:rPr>
              <a:t>27.4%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679192"/>
            <a:ext cx="1554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F8FBFD"/>
                </a:solidFill>
                <a:latin typeface="Aptos"/>
              </a:rPr>
              <a:t>10-year CVD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783080"/>
            <a:ext cx="2057400" cy="1298448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46120" y="1783080"/>
            <a:ext cx="73152" cy="1298448"/>
          </a:xfrm>
          <a:prstGeom prst="roundRect">
            <a:avLst>
              <a:gd name="adj" fmla="val 12000"/>
            </a:avLst>
          </a:prstGeom>
          <a:solidFill>
            <a:srgbClr val="FF6760"/>
          </a:solidFill>
          <a:ln>
            <a:solidFill>
              <a:srgbClr val="FF6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1965960"/>
            <a:ext cx="150876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40280"/>
            <a:ext cx="16002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FF6760"/>
                </a:solidFill>
                <a:latin typeface="Aptos"/>
              </a:rPr>
              <a:t>BP + BMI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79192"/>
            <a:ext cx="1554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F8FBFD"/>
                </a:solidFill>
                <a:latin typeface="Aptos"/>
              </a:rPr>
              <a:t>leading model signals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50992" y="1783080"/>
            <a:ext cx="2057400" cy="1298448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650992" y="1783080"/>
            <a:ext cx="73152" cy="1298448"/>
          </a:xfrm>
          <a:prstGeom prst="roundRect">
            <a:avLst>
              <a:gd name="adj" fmla="val 12000"/>
            </a:avLst>
          </a:prstGeom>
          <a:solidFill>
            <a:srgbClr val="F7C14C"/>
          </a:solidFill>
          <a:ln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79592" y="1965960"/>
            <a:ext cx="150876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2240280"/>
            <a:ext cx="16002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F7C14C"/>
                </a:solidFill>
                <a:latin typeface="Aptos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2679192"/>
            <a:ext cx="1554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F8FBFD"/>
                </a:solidFill>
                <a:latin typeface="Aptos"/>
              </a:rPr>
              <a:t>green status indicator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4" y="1783080"/>
            <a:ext cx="2057400" cy="1298448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55864" y="1783080"/>
            <a:ext cx="73152" cy="1298448"/>
          </a:xfrm>
          <a:prstGeom prst="roundRect">
            <a:avLst>
              <a:gd name="adj" fmla="val 12000"/>
            </a:avLst>
          </a:prstGeom>
          <a:solidFill>
            <a:srgbClr val="9D7DFF"/>
          </a:solidFill>
          <a:ln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4464" y="1965960"/>
            <a:ext cx="150876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1">
                <a:solidFill>
                  <a:srgbClr val="A6B8C7"/>
                </a:solidFill>
                <a:latin typeface="Aptos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4" y="2240280"/>
            <a:ext cx="160020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800" b="1">
                <a:solidFill>
                  <a:srgbClr val="9D7DFF"/>
                </a:solidFill>
                <a:latin typeface="Aptos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679192"/>
            <a:ext cx="1554480" cy="16459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F8FBFD"/>
                </a:solidFill>
                <a:latin typeface="Aptos"/>
              </a:rPr>
              <a:t>prioritized next steps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10512" y="3410712"/>
            <a:ext cx="7333488" cy="0"/>
          </a:xfrm>
          <a:prstGeom prst="line">
            <a:avLst/>
          </a:prstGeom>
          <a:ln w="1651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41248" y="3767328"/>
            <a:ext cx="10104120" cy="1335024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4023360"/>
            <a:ext cx="1874519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1">
                <a:solidFill>
                  <a:srgbClr val="F7C14C"/>
                </a:solidFill>
                <a:latin typeface="Aptos"/>
              </a:rPr>
              <a:t>ACTION PLAN 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370832"/>
            <a:ext cx="9235440" cy="27432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400" b="1">
                <a:solidFill>
                  <a:srgbClr val="F8FBFD"/>
                </a:solidFill>
                <a:latin typeface="Aptos"/>
              </a:rPr>
              <a:t>Protective factors  •  factors requiring attention  •  prioritized lifestyle guidance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754880"/>
            <a:ext cx="92354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0">
                <a:solidFill>
                  <a:srgbClr val="A6B8C7"/>
                </a:solidFill>
                <a:latin typeface="Aptos"/>
              </a:rPr>
              <a:t>The recommendation engine adapts to BP, BMI, smoking, alcohol, activity, cholesterol, glucose, and risk tier.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863840" cy="256032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1">
                <a:solidFill>
                  <a:srgbClr val="F7C14C"/>
                </a:solidFill>
                <a:latin typeface="Aptos"/>
              </a:rPr>
              <a:t>07  |  DEMO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789920" cy="420624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2300" b="1">
                <a:solidFill>
                  <a:srgbClr val="F8FBFD"/>
                </a:solidFill>
                <a:latin typeface="Aptos"/>
              </a:rPr>
              <a:t>A clear path from signal to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60704"/>
            <a:ext cx="106070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A6B8C7"/>
                </a:solidFill>
                <a:latin typeface="Aptos"/>
              </a:rPr>
              <a:t>CardioLens makes a multi-stage machine-learning forecast understandable, inspectable, and useful in a live walkthrough.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83096"/>
            <a:ext cx="10945368" cy="0"/>
          </a:xfrm>
          <a:prstGeom prst="line">
            <a:avLst/>
          </a:prstGeom>
          <a:ln w="1016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537960"/>
            <a:ext cx="804672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800" b="0">
                <a:solidFill>
                  <a:srgbClr val="A6B8C7"/>
                </a:solidFill>
                <a:latin typeface="Aptos"/>
              </a:rPr>
              <a:t>CARDIOLENS  |  Streamlit demo  |  research / education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234440" cy="18288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r"/>
            <a:r>
              <a:rPr sz="800" b="1">
                <a:solidFill>
                  <a:srgbClr val="F7C14C"/>
                </a:solidFill>
                <a:latin typeface="Aptos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5997FF"/>
          </a:solidFill>
          <a:ln w="15240">
            <a:solidFill>
              <a:srgbClr val="5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566928" cy="292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100" b="1">
                <a:solidFill>
                  <a:srgbClr val="0A162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1801368"/>
            <a:ext cx="32918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500" b="1">
                <a:solidFill>
                  <a:srgbClr val="F8FBFD"/>
                </a:solidFill>
                <a:latin typeface="Aptos"/>
              </a:rPr>
              <a:t>Start with the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112264"/>
            <a:ext cx="411480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A6B8C7"/>
                </a:solidFill>
                <a:latin typeface="Aptos"/>
              </a:rPr>
              <a:t>Capture vitals and lifestyle inputs in the sidebar.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144" y="2377440"/>
            <a:ext cx="0" cy="484632"/>
          </a:xfrm>
          <a:prstGeom prst="line">
            <a:avLst/>
          </a:prstGeom>
          <a:ln w="1651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68680" y="2926080"/>
            <a:ext cx="566928" cy="566928"/>
          </a:xfrm>
          <a:prstGeom prst="ellipse">
            <a:avLst/>
          </a:prstGeom>
          <a:solidFill>
            <a:srgbClr val="30CFBE"/>
          </a:solidFill>
          <a:ln w="15240"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44952"/>
            <a:ext cx="566928" cy="292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100" b="1">
                <a:solidFill>
                  <a:srgbClr val="0A162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2944368"/>
            <a:ext cx="32918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500" b="1">
                <a:solidFill>
                  <a:srgbClr val="F8FBFD"/>
                </a:solidFill>
                <a:latin typeface="Aptos"/>
              </a:rPr>
              <a:t>Trace the cascade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255264"/>
            <a:ext cx="411480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A6B8C7"/>
                </a:solidFill>
                <a:latin typeface="Aptos"/>
              </a:rPr>
              <a:t>Show how metabolic probability feeds the cardiovascular model.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52144" y="3520440"/>
            <a:ext cx="0" cy="484632"/>
          </a:xfrm>
          <a:prstGeom prst="line">
            <a:avLst/>
          </a:prstGeom>
          <a:ln w="16510">
            <a:solidFill>
              <a:srgbClr val="3047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68680" y="4069080"/>
            <a:ext cx="566928" cy="566928"/>
          </a:xfrm>
          <a:prstGeom prst="ellipse">
            <a:avLst/>
          </a:prstGeom>
          <a:solidFill>
            <a:srgbClr val="F7C14C"/>
          </a:solidFill>
          <a:ln w="15240">
            <a:solidFill>
              <a:srgbClr val="F7C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87952"/>
            <a:ext cx="566928" cy="29260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100" b="1">
                <a:solidFill>
                  <a:srgbClr val="0A1626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4087368"/>
            <a:ext cx="329184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500" b="1">
                <a:solidFill>
                  <a:srgbClr val="F8FBFD"/>
                </a:solidFill>
                <a:latin typeface="Aptos"/>
              </a:rPr>
              <a:t>End with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4398264"/>
            <a:ext cx="4114800" cy="22860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1000" b="0">
                <a:solidFill>
                  <a:srgbClr val="A6B8C7"/>
                </a:solidFill>
                <a:latin typeface="Aptos"/>
              </a:rPr>
              <a:t>Open the feature drivers and personalized wellness plan.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1828800"/>
            <a:ext cx="3977639" cy="3154680"/>
          </a:xfrm>
          <a:prstGeom prst="roundRect">
            <a:avLst>
              <a:gd name="adj" fmla="val 12000"/>
            </a:avLst>
          </a:prstGeom>
          <a:solidFill>
            <a:srgbClr val="13263B"/>
          </a:solidFill>
          <a:ln>
            <a:solidFill>
              <a:srgbClr val="30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9480" y="2148840"/>
            <a:ext cx="3246120" cy="201168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l"/>
            <a:r>
              <a:rPr sz="900" b="1">
                <a:solidFill>
                  <a:srgbClr val="30CFBE"/>
                </a:solidFill>
                <a:latin typeface="Aptos"/>
              </a:rPr>
              <a:t>CARDIOLENS IN ONE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596896"/>
            <a:ext cx="3154680" cy="105156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2400" b="1">
                <a:solidFill>
                  <a:srgbClr val="F8FBFD"/>
                </a:solidFill>
                <a:latin typeface="Aptos"/>
              </a:rPr>
              <a:t>Inputs
→ models
→ evidence
→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160520"/>
            <a:ext cx="3154680" cy="320040"/>
          </a:xfrm>
          <a:prstGeom prst="rect">
            <a:avLst/>
          </a:prstGeom>
          <a:noFill/>
        </p:spPr>
        <p:txBody>
          <a:bodyPr wrap="square" lIns="36576" rIns="36576" anchor="ctr">
            <a:spAutoFit/>
          </a:bodyPr>
          <a:lstStyle/>
          <a:p>
            <a:pPr algn="ctr"/>
            <a:r>
              <a:rPr sz="1000" b="1">
                <a:solidFill>
                  <a:srgbClr val="F7C14C"/>
                </a:solidFill>
                <a:latin typeface="Aptos"/>
              </a:rPr>
              <a:t>For research and educational use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790</Words>
  <Application>Microsoft Office PowerPoint</Application>
  <PresentationFormat>Widescreen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Deva Prasad Salomon</cp:lastModifiedBy>
  <cp:revision>1</cp:revision>
  <dcterms:created xsi:type="dcterms:W3CDTF">2013-01-27T09:14:16Z</dcterms:created>
  <dcterms:modified xsi:type="dcterms:W3CDTF">2026-09-02T16:49:22Z</dcterms:modified>
  <cp:category/>
</cp:coreProperties>
</file>